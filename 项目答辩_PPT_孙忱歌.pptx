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3657600" cy="3657600"/>
          </a:xfrm>
          <a:prstGeom prst="ellipse">
            <a:avLst/>
          </a:prstGeom>
          <a:solidFill>
            <a:srgbClr val="1677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2743200"/>
            <a:ext cx="3657600" cy="3657600"/>
          </a:xfrm>
          <a:prstGeom prst="ellipse">
            <a:avLst/>
          </a:prstGeom>
          <a:solidFill>
            <a:srgbClr val="52C41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38560" y="4572000"/>
            <a:ext cx="3657600" cy="3657600"/>
          </a:xfrm>
          <a:prstGeom prst="ellipse">
            <a:avLst/>
          </a:prstGeom>
          <a:solidFill>
            <a:srgbClr val="FAAD14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1828800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mumu-freight-admin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677FF"/>
                </a:solidFill>
                <a:latin typeface="Microsoft YaHei"/>
              </a:defRPr>
            </a:pPr>
            <a:r>
              <a:t>幕幕货运 · 通用后台管理系统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9CAB"/>
                </a:solidFill>
                <a:latin typeface="Microsoft YaHei"/>
              </a:defRPr>
            </a:pPr>
            <a:r>
              <a:t>React 18 + TypeScript + Ant Design 5 企业级后台解决方案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572000"/>
            <a:ext cx="3657600" cy="9144"/>
          </a:xfrm>
          <a:prstGeom prst="rect">
            <a:avLst/>
          </a:prstGeom>
          <a:solidFill>
            <a:srgbClr val="8C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演讲人：孙忱歌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全栈开发方向  ·  项目答辩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背景 · 定位 · 功能全景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74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技术栈全景与架构设计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RBAC 权限控制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菜单/按钮级权限 · 多角色管理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多标签页系统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状态持久化 · 拖拽排序 · 纯单向同步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暗黑模式主题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Ant Design 5 动态主题 · Context 下钻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数据大屏可视化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ECharts 多图表联动 · 实时刷新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腾讯地图集成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运单追踪 · 轨迹绘制 · 路线规划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3D 货运网络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Three.js 地球 · 流光弧线 · 脉冲城市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国际化 i18n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中英文切换 · 全局文案管理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AI 智能助手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语音交互 · 智能问答 · 语音导航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355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6675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技术收获 · 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面向货运物流企业的后台管理系统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提供订单管理、运单追踪、数据监控等核心业务功能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基于 React 18 + TypeScript 6 现代前端技术栈构建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从零搭建，覆盖企业级后台全部典型场景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RBAC 三级权限控制（目录/菜单/按钮）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多标签页 + Zustand 状态持久化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ECharts 数据大屏 + 3D 地球可视化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腾讯地图运单追踪 + 路线规划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中英文国际化 + 暗黑模式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AI 语音助手 + 智能订单预测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功能全景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77FF"/>
                </a:solidFill>
                <a:latin typeface="Microsoft YaHei"/>
              </a:defRPr>
            </a:pPr>
            <a:r>
              <a:t>📦 订单管理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CRUD · 状态流转 · Excel 导入导出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77FF"/>
                </a:solidFill>
                <a:latin typeface="Microsoft YaHei"/>
              </a:defRPr>
            </a:pPr>
            <a:r>
              <a:t>🗺️ 运单追踪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633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地图轨迹 · 实时位置 · 运输进度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63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77FF"/>
                </a:solidFill>
                <a:latin typeface="Microsoft YaHei"/>
              </a:defRPr>
            </a:pPr>
            <a:r>
              <a:t>📊 数据大屏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1638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ECharts · 实时刷新 · 多图表联动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94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77FF"/>
                </a:solidFill>
                <a:latin typeface="Microsoft YaHei"/>
              </a:defRPr>
            </a:pPr>
            <a:r>
              <a:t>🔐 权限控制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6941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角色管理 · 菜单/按钮级权限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77FF"/>
                </a:solidFill>
                <a:latin typeface="Microsoft YaHei"/>
              </a:defRPr>
            </a:pPr>
            <a:r>
              <a:t>🌐 国际化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中英文切换 · 全局翻译覆盖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77FF"/>
                </a:solidFill>
                <a:latin typeface="Microsoft YaHei"/>
              </a:defRPr>
            </a:pPr>
            <a:r>
              <a:t>🌍 3D 网络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货运网络地球 · 流光弧线动画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85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77FF"/>
                </a:solidFill>
                <a:latin typeface="Microsoft YaHei"/>
              </a:defRPr>
            </a:pPr>
            <a:r>
              <a:t>🤖 AI 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285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语音交互 · 智能问答 · 导航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815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77FF"/>
                </a:solidFill>
                <a:latin typeface="Microsoft YaHei"/>
              </a:defRPr>
            </a:pPr>
            <a:r>
              <a:t>📈 智能预测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815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CAB"/>
                </a:solidFill>
                <a:latin typeface="Microsoft YaHei"/>
              </a:defRPr>
            </a:pPr>
            <a:r>
              <a:t>订单预测 · 线性回归算法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651760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⚛️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TypeScript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63040"/>
            <a:ext cx="265176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463040"/>
            <a:ext cx="2651760" cy="36576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🎨 Ant Design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暗黑算法 + ConfigProvider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22ED1"/>
                </a:solidFill>
                <a:latin typeface="Microsoft YaHei"/>
              </a:defRPr>
            </a:pPr>
            <a:r>
              <a:t>UI 组件库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265176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651760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📦 Zustand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轻量状态管理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2C41A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463040"/>
            <a:ext cx="265176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463040"/>
            <a:ext cx="2651760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🗺️ 腾讯地图 GL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JS API v1.exp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8C16"/>
                </a:solidFill>
                <a:latin typeface="Microsoft YaHei"/>
              </a:defRPr>
            </a:pPr>
            <a:r>
              <a:t>地图服务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23360"/>
            <a:ext cx="265176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023360"/>
            <a:ext cx="2651760" cy="36576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📊 ECharts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柱/折/饼/玫瑰图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B2F96"/>
                </a:solidFill>
                <a:latin typeface="Microsoft YaHei"/>
              </a:defRPr>
            </a:pPr>
            <a:r>
              <a:t>数据可视化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4023360"/>
            <a:ext cx="265176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4023360"/>
            <a:ext cx="2651760" cy="3657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🌍 Three.js + Globe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3D 地球可视化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3D 渲染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023360"/>
            <a:ext cx="265176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023360"/>
            <a:ext cx="2651760" cy="36576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🌐 i18next 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中英文切换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3C2C2"/>
                </a:solidFill>
                <a:latin typeface="Microsoft YaHei"/>
              </a:defRPr>
            </a:pPr>
            <a:r>
              <a:t>国际化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4023360"/>
            <a:ext cx="265176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9720" y="4023360"/>
            <a:ext cx="2651760" cy="36576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🛠️ Vite 8 + ESLint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快速构建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AD14"/>
                </a:solidFill>
                <a:latin typeface="Microsoft YaHei"/>
              </a:defRPr>
            </a:pPr>
            <a:r>
              <a:t>工程化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035040"/>
            <a:ext cx="1106424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架构模式：MainLayout (SideMenu + NavHeader + TabBar + Content&lt;Outlet/&gt; + NavFooter) → AIAssistant (浮动) · Watermark (覆盖) · 路由懒加载 (React.lazy + Suspense)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RBAC 权限控制系统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Role-Based Access Control · 三级粒度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设计思路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三级权限粒度：目录 / 菜单 / 按钮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权限标识格式：system:user:list（模块:资源:操作）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预置 3 个角色：超级管理员 / 运营主管 / 客服人员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20+ 页面菜单 + 10+ 操作按钮权限控制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纯 TypeScript 模块级缓存，零运行时开销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权限修改 → reloadPerms() 实时生效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核心实现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2C41A"/>
                </a:solidFill>
                <a:latin typeface="Microsoft YaHei"/>
              </a:defRPr>
            </a:pPr>
            <a:r>
              <a:t>// RBAC 菜单树 + 权限过滤</a:t>
            </a:r>
            <a:br/>
            <a:r>
              <a:t>const filterMenuTree = (items, allowedIds) =&gt;</a:t>
            </a:r>
            <a:br/>
            <a:r>
              <a:t>  items.filter(item =&gt; allowed.has(item.id) ||</a:t>
            </a:r>
            <a:br/>
            <a:r>
              <a:t>    item.children?.some(c =&gt; allowed.has(c.id)))</a:t>
            </a:r>
            <a:br/>
            <a:r>
              <a:t>  .map(item =&gt; ({</a:t>
            </a:r>
            <a:br/>
            <a:r>
              <a:t>    ...item,</a:t>
            </a:r>
            <a:br/>
            <a:r>
              <a:t>    children: filterMenuTree(item.children, allowedIds)</a:t>
            </a:r>
            <a:br/>
            <a:r>
              <a:t>  }))</a:t>
            </a:r>
            <a:br/>
            <a:r>
              <a:t>  .filter(item =&gt; item.children?.length || allowed.has(item.id));</a:t>
            </a:r>
            <a:br/>
            <a:br/>
            <a:r>
              <a:t>// 按钮级权限验证</a:t>
            </a:r>
            <a:br/>
            <a:r>
              <a:t>const hasPerm = (perm: string) =&gt; perms.includes(perm);</a:t>
            </a:r>
            <a:br/>
            <a:r>
              <a:t>// 使用：{hasPerm('system:user:delete') &amp;&amp; &lt;删除按钮 /&gt;}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权限矩阵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920240"/>
            <a:ext cx="1371600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920240"/>
            <a:ext cx="1097280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965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菜单权限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920240"/>
            <a:ext cx="1188720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965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页面权限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1920240"/>
            <a:ext cx="1188720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1965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按钮权限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377440"/>
            <a:ext cx="1371600" cy="502920"/>
          </a:xfrm>
          <a:prstGeom prst="rect">
            <a:avLst/>
          </a:prstGeom>
          <a:solidFill>
            <a:srgbClr val="F0F5FA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超级管理员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377440"/>
            <a:ext cx="1097280" cy="502920"/>
          </a:xfrm>
          <a:prstGeom prst="rect">
            <a:avLst/>
          </a:prstGeom>
          <a:solidFill>
            <a:srgbClr val="F0F5FA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✅ 全部权限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377440"/>
            <a:ext cx="1188720" cy="502920"/>
          </a:xfrm>
          <a:prstGeom prst="rect">
            <a:avLst/>
          </a:prstGeom>
          <a:solidFill>
            <a:srgbClr val="F0F5FA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468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✅ 全部菜单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2377440"/>
            <a:ext cx="1188720" cy="502920"/>
          </a:xfrm>
          <a:prstGeom prst="rect">
            <a:avLst/>
          </a:prstGeom>
          <a:solidFill>
            <a:srgbClr val="F0F5FA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2468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✅ 全部按钮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8803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运营主管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288036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2971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✅ 运营模块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288036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2971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✅ 订单相关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1280" y="288036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2971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✅ 审核相关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383280"/>
            <a:ext cx="1371600" cy="502920"/>
          </a:xfrm>
          <a:prstGeom prst="rect">
            <a:avLst/>
          </a:prstGeom>
          <a:solidFill>
            <a:srgbClr val="F0F5FA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客服人员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3383280"/>
            <a:ext cx="1097280" cy="502920"/>
          </a:xfrm>
          <a:prstGeom prst="rect">
            <a:avLst/>
          </a:prstGeom>
          <a:solidFill>
            <a:srgbClr val="F0F5FA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0" y="3474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❌ 受限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383280"/>
            <a:ext cx="1188720" cy="502920"/>
          </a:xfrm>
          <a:prstGeom prst="rect">
            <a:avLst/>
          </a:prstGeom>
          <a:solidFill>
            <a:srgbClr val="F0F5FA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3474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✅ 订单查看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3383280"/>
            <a:ext cx="1188720" cy="502920"/>
          </a:xfrm>
          <a:prstGeom prst="rect">
            <a:avLst/>
          </a:prstGeom>
          <a:solidFill>
            <a:srgbClr val="F0F5FA"/>
          </a:solidFill>
          <a:ln w="63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3474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❌ 无操作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多标签页系统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TabBar · 状态持久化 · 纯单向同步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要解决的问题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React.lazy() 懒加载导致页面切换后组件重新挂载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用户在搜索/表单中输入的数据因切换页面而丢失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后台管理场景需要类似 Chrome 的多标签体验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核心设计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2C41A"/>
                </a:solidFill>
                <a:latin typeface="Microsoft YaHei"/>
              </a:defRPr>
            </a:pPr>
            <a:r>
              <a:t>// 纯单向同步设计</a:t>
            </a:r>
            <a:br/>
            <a:r>
              <a:t>// 点击标签 → navigate → 路由变化 → 自动同步</a:t>
            </a:r>
            <a:br/>
            <a:r>
              <a:t>// 关闭标签 → closeTab + navigate 同时执行</a:t>
            </a:r>
            <a:br/>
            <a:r>
              <a:t>// 绝不从 store 反向影响路由（防止循环）</a:t>
            </a:r>
            <a:br/>
            <a:br/>
            <a:r>
              <a:t>useEffect(() =&gt; {</a:t>
            </a:r>
            <a:br/>
            <a:r>
              <a:t>  const path = location.pathname;</a:t>
            </a:r>
            <a:br/>
            <a:r>
              <a:t>  if (path === '/login') return;</a:t>
            </a:r>
            <a:br/>
            <a:r>
              <a:t>  const store = useTabStore.getState();</a:t>
            </a:r>
            <a:br/>
            <a:r>
              <a:t>  const exists = store.tabs.find(t =&gt; t.path === path);</a:t>
            </a:r>
            <a:br/>
            <a:r>
              <a:t>  if (!exists) store.openTab({ path, title, closable: true });</a:t>
            </a:r>
            <a:br/>
            <a:r>
              <a:t>  else store.setActiveTab(path);</a:t>
            </a:r>
            <a:br/>
            <a:r>
              <a:t>}, [location.pathname]);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🗂️ 自动开标签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侧边栏点击 / 路由变化自动创建新标签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❌ 关闭控制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首页不可关闭；支持关闭其他/右侧/全部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🔄 拖拽排序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HTML5 Drag &amp; Drop API 原生实现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💾 状态持久化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刷新后通过路由路径自动恢复标签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🔗 右键菜单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关闭其他 / 关闭右侧 / 关闭全部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🏗️ 集中管理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943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PATH_TITLE_MAP 映射 19 个页面路径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暗黑模式主题系统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Dark Mode · Ant Design 5 动态主题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技术实现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Zustand + localStorage 持久化主题偏好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Ant Design 5 darkAlgorithm / defaultAlgorithm 切换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ConfigProvider 从根节点下发主题 Token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data-theme HTML 属性 + CSS 变量联动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初始化时从 localStorage 立即读取，防止页面闪烁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所有组件通过 theme.useToken() 消费主题颜色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4846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☀️ 浅色模式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8C9CAB"/>
                </a:solidFill>
                <a:latin typeface="Microsoft YaHei"/>
              </a:defRPr>
            </a:pPr>
            <a:r>
              <a:t>  颜色方案：#1677ff + #ffffff</a:t>
            </a:r>
          </a:p>
          <a:p>
            <a:pPr>
              <a:spcAft>
                <a:spcPts val="800"/>
              </a:spcAft>
              <a:defRPr sz="1200">
                <a:solidFill>
                  <a:srgbClr val="8C9CAB"/>
                </a:solidFill>
                <a:latin typeface="Microsoft YaHei"/>
              </a:defRPr>
            </a:pPr>
            <a:r>
              <a:t>  组件样式：深色模式 → 自动适配暗色背景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566160"/>
            <a:ext cx="4846320" cy="173736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🌙 深色模式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0C0D0"/>
                </a:solidFill>
                <a:latin typeface="Microsoft YaHei"/>
              </a:defRPr>
            </a:pPr>
            <a:r>
              <a:t>  颜色方案：#1677ff + #16213a</a:t>
            </a:r>
          </a:p>
          <a:p>
            <a:pPr>
              <a:spcAft>
                <a:spcPts val="800"/>
              </a:spcAft>
              <a:defRPr sz="1200">
                <a:solidFill>
                  <a:srgbClr val="B0C0D0"/>
                </a:solidFill>
                <a:latin typeface="Microsoft YaHei"/>
              </a:defRPr>
            </a:pPr>
            <a:r>
              <a:t>  组件样式：深色模式 → 自动适配暗色背景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C41A"/>
                </a:solidFill>
                <a:latin typeface="Microsoft YaHei"/>
              </a:defRPr>
            </a:pPr>
            <a:r>
              <a:t>// 通过 ConfigProvider 动态下发主题算法</a:t>
            </a:r>
            <a:br/>
            <a:r>
              <a:t>const themeAlgorithm = themeMode === 'dark'</a:t>
            </a:r>
            <a:br/>
            <a:r>
              <a:t>  ? antdTheme.darkAlgorithm</a:t>
            </a:r>
            <a:br/>
            <a:r>
              <a:t>  : antdTheme.defaultAlgorithm;</a:t>
            </a:r>
            <a:br/>
            <a:br/>
            <a:r>
              <a:t>// 组件直接通过 Token 获取主题色</a:t>
            </a:r>
            <a:br/>
            <a:r>
              <a:t>const { token } = theme.useToken();</a:t>
            </a:r>
            <a:br/>
            <a:r>
              <a:t>// token.colorBgContainer → 自动跟随主题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数据大屏可视化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Big Screen · ECharts 多图表联动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1005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📈 订单趋势折线图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12 个月走势 · 渐变面积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474720" cy="1005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📊 城市排行柱状图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Top 10 城市 · 排名标注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463040"/>
            <a:ext cx="3474720" cy="1005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8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🥧 货物类型玫瑰图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8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南丁格尔玫瑰饼图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51760"/>
            <a:ext cx="3474720" cy="1005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📍 配送点分布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嵌入腾讯地图标注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651760"/>
            <a:ext cx="3474720" cy="1005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39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🚚 实时运单滚动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2 秒轮播 · 自动刷新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8" y="2651760"/>
            <a:ext cx="3474720" cy="1005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8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🏆 司机排行条形图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8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CAB"/>
                </a:solidFill>
                <a:latin typeface="Microsoft YaHei"/>
              </a:defRPr>
            </a:pPr>
            <a:r>
              <a:t>突出前三名 · 横向展示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4 种 ECharts 图表类型联动展示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requestAnimationFrame 数字滚动动画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每 5 秒自动刷新 + 实时时钟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全屏独立路由 (/screen)，脱离主布局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内嵌腾讯地图标注配送分仓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Ant Design Token 主题自适应（暗黑模式兼容）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206240"/>
            <a:ext cx="50292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数据流转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2C41A"/>
                </a:solidFill>
                <a:latin typeface="Microsoft YaHei"/>
              </a:defRPr>
            </a:pPr>
            <a:r>
              <a:t>Mock.js 模拟数据</a:t>
            </a:r>
            <a:br/>
            <a:r>
              <a:t>        ↓</a:t>
            </a:r>
            <a:br/>
            <a:r>
              <a:t>Zustand Store 状态管理</a:t>
            </a:r>
            <a:br/>
            <a:r>
              <a:t>        ↓</a:t>
            </a:r>
            <a:br/>
            <a:r>
              <a:t>ECharts / React 组件渲染</a:t>
            </a:r>
            <a:br/>
            <a:r>
              <a:t>        ↓</a:t>
            </a:r>
            <a:br/>
            <a:r>
              <a:t>Ant Design ConfigProvider 主题同步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地图集成 &amp; 3D 货运网络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Tencent Map + Three.js Globe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77FF"/>
                </a:solidFill>
                <a:latin typeface="Microsoft YaHei"/>
              </a:defRPr>
            </a:pPr>
            <a:r>
              <a:t>🗺️ 腾讯地图 GL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通用 MapContainer 组件，接收 markers/tracks props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SVG 动态生成多色标注点（蓝/红/绿/紫/橙）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轨迹绘制（MultiPolyline）+ 起终点标注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信息窗口弹窗 · 浏览器定位 · fitBounds 自适应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应用于运单追踪 + 路线规划两个核心场景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动态加载 SDK，组件卸载自动释放资源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C41A"/>
                </a:solidFill>
                <a:latin typeface="Microsoft YaHei"/>
              </a:defRPr>
            </a:pPr>
            <a:r>
              <a:t>🌍 3D 货运网络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react-globe.gl + Three.js + NASA 地球纹理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动态脉冲城市标记（按订单量分级着色）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Top 8 城市间流光飞行弧线（虚线动画）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HTML 覆盖层解决 Canvas 中文乱码问题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鼠标拖拽旋转 · 点击查看城市详情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外部缩放控制（zoomIn/zoomOut 暴露给父组件）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63040"/>
            <a:ext cx="484632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6002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C41A"/>
                </a:solidFill>
                <a:latin typeface="Microsoft YaHei"/>
              </a:defRPr>
            </a:pPr>
            <a:r>
              <a:t>// 3D 城市标记分级着色</a:t>
            </a:r>
            <a:br/>
            <a:r>
              <a:t>const getPointColor = (orderCount) =&gt; {</a:t>
            </a:r>
            <a:br/>
            <a:r>
              <a:t>  const ratio = orderCount / MAX_ORDERS;</a:t>
            </a:r>
            <a:br/>
            <a:r>
              <a:t>  if (ratio &gt; 0.8) return '#ff6b35';  // 高流量橙</a:t>
            </a:r>
            <a:br/>
            <a:r>
              <a:t>  if (ratio &gt; 0.5) return '#ffaa33';  // 中流量黄</a:t>
            </a:r>
            <a:br/>
            <a:r>
              <a:t>  return '#44ddff';                    // 低流量青</a:t>
            </a:r>
            <a:br/>
            <a:r>
              <a:t>};</a:t>
            </a:r>
            <a:br/>
            <a:br/>
            <a:r>
              <a:t>// HTML 覆盖层投影（解决中文乱码）</a:t>
            </a:r>
            <a:br/>
            <a:r>
              <a:t>const projectToScreen = (lat, lng) =&gt; {</a:t>
            </a:r>
            <a:br/>
            <a:r>
              <a:t>  const vec = new THREE.Vector3();</a:t>
            </a:r>
            <a:br/>
            <a:r>
              <a:t>  globeRef.current.getGlobePosition(lat, lng, vec);</a:t>
            </a:r>
            <a:br/>
            <a:r>
              <a:t>  vec.project(camera);</a:t>
            </a:r>
            <a:br/>
            <a:r>
              <a:t>  // → 映射到屏幕像素坐标</a:t>
            </a:r>
            <a:br/>
            <a:r>
              <a:t>  return { x, y, z };</a:t>
            </a:r>
            <a:br/>
            <a:r>
              <a:t>};</a:t>
            </a:r>
            <a:br/>
            <a:br/>
            <a:r>
              <a:t>// 腾讯地图动态 SDK 加载</a:t>
            </a:r>
            <a:br/>
            <a:r>
              <a:t>const loadSDK = () =&gt; new Promise((resolve) =&gt; {</a:t>
            </a:r>
            <a:br/>
            <a:r>
              <a:t>  const script = document.createElement('script');</a:t>
            </a:r>
            <a:br/>
            <a:r>
              <a:t>  script.src = `https://map.qq.com/api/gljs?v=1.exp&amp;key=${KEY}`;</a:t>
            </a:r>
            <a:br/>
            <a:r>
              <a:t>  script.onload = () =&gt; resolve(new T.Map(container));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6400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国际化 &amp; AI 智能助手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i18n · Web Speech API · 智能问答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77FF"/>
                </a:solidFill>
                <a:latin typeface="Microsoft YaHei"/>
              </a:defRPr>
            </a:pPr>
            <a:r>
              <a:t>🌐 国际化 i18n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i18next 26 + react-i18next 17 + 浏览器语言检测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中英文翻译文件共 600+ key，覆盖全部页面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所有页面使用 useTranslation() Hook 动态切换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订单状态等业务字典通过 i18n.t() 直接读取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localStorage 持久化语言偏好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暗黑模式 + 国际化 = 多维度自适应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C41A"/>
                </a:solidFill>
                <a:latin typeface="Microsoft YaHei"/>
              </a:defRPr>
            </a:pPr>
            <a:r>
              <a:t>🤖 AI 智能数据助手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Web Speech API：语音识别 + 语音合成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说「打开订单管理」自动导航（15+ 规则）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智能问答：订单数/营收/司机/城市排名等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纯前端实现，零后端依赖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语音播报可开关 · 浮动按钮随时唤起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快捷提问 + 数据卡片展示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63040"/>
            <a:ext cx="484632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国际化覆盖范围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📄 登录 / 仪表盘 / 欢迎页 / 订单管理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59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📄 用户管理 / 菜单管理 / 角色管理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7066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📄 部门管理 / 司机管理 / 课程管理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0540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📄 系统设置 / 数据大屏 / 智能报表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4015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📄 运单追踪 / 路线规划 / 热力地图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490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📄 订单聚合 / 订单看板 / 订单预测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96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📄 3D 货运网络 / 审计日志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4439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🧩 NavHeader / SideMenu / TabBar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7914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🧩 NotificationBell / NavFooter / Watermark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138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Microsoft YaHei"/>
              </a:defRPr>
            </a:pPr>
            <a:r>
              <a:t>🧩 ExcelImport / Loading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C41A"/>
                </a:solidFill>
                <a:latin typeface="Microsoft YaHei"/>
              </a:defRPr>
            </a:pPr>
            <a:r>
              <a:t>📦 format.ts 工具函数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Summary &amp; Reflections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77FF"/>
                </a:solidFill>
                <a:latin typeface="Microsoft YaHei"/>
              </a:defRPr>
            </a:pPr>
            <a:r>
              <a:t>📚 技术收获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深入掌握 React 18 + TypeScript 企业级开发范式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熟练运用 Zustand 替代 Redux 进行状态管理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掌握 Ant Design 5 Token 主题系统与暗黑模式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积累 ECharts + Three.js 数据可视化经验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实现完整 RBAC 权限模型（菜单/按钮级）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掌握腾讯地图 GL SDK 集成与轨迹绘制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精通 react-i18next 国际化项目落地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掌握 Web Speech API 语音交互开发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2C41A"/>
                </a:solidFill>
                <a:latin typeface="Microsoft YaHei"/>
              </a:defRPr>
            </a:pPr>
            <a:r>
              <a:t>🚀 改进方向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集成 WebSocket 实现实时消息推送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接入后端 API，替换 Mock 数据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增加单元测试 + E2E 测试覆盖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CI/CD 自动化部署流水线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性能优化：虚拟列表 + 代码分割</a:t>
            </a:r>
          </a:p>
          <a:p>
            <a:pPr>
              <a:spcAft>
                <a:spcPts val="800"/>
              </a:spcAft>
              <a:defRPr sz="1400">
                <a:solidFill>
                  <a:srgbClr val="E8EEF4"/>
                </a:solidFill>
                <a:latin typeface="Microsoft YaHei"/>
              </a:defRPr>
            </a:pPr>
            <a:r>
              <a:t>▸ 更多图表类型与可视化方案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2468880" cy="109728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Microsoft YaHei"/>
              </a:defRPr>
            </a:pPr>
            <a:r>
              <a:t>组件 &amp; 页面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029200"/>
            <a:ext cx="2468880" cy="109728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623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029200"/>
            <a:ext cx="2468880" cy="109728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623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Microsoft YaHei"/>
              </a:defRPr>
            </a:pPr>
            <a:r>
              <a:t>国际化翻译 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5029200"/>
            <a:ext cx="2468880" cy="1097280"/>
          </a:xfrm>
          <a:prstGeom prst="round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623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Microsoft YaHei"/>
              </a:defRPr>
            </a:pPr>
            <a:r>
              <a:t>技术栈 &amp; 工具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2286000"/>
            <a:ext cx="2194560" cy="2194560"/>
          </a:xfrm>
          <a:prstGeom prst="ellipse">
            <a:avLst/>
          </a:prstGeom>
          <a:solidFill>
            <a:srgbClr val="1677FF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677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2C41A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9CAB"/>
                </a:solidFill>
                <a:latin typeface="Microsoft YaHei"/>
              </a:defRPr>
            </a:pPr>
            <a:r>
              <a:t>孙忱歌  ·  mumu-freight-admin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